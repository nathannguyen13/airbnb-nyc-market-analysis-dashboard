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61" r:id="rId4"/>
    <p:sldId id="262" r:id="rId5"/>
    <p:sldId id="263" r:id="rId6"/>
    <p:sldId id="264" r:id="rId7"/>
    <p:sldId id="265" r:id="rId8"/>
    <p:sldId id="266" r:id="rId9"/>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536773"/>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36773"/>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254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25400" cap="flat">
              <a:solidFill>
                <a:srgbClr val="CB297B"/>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18"/>
    <p:restoredTop sz="94694"/>
  </p:normalViewPr>
  <p:slideViewPr>
    <p:cSldViewPr snapToGrid="0">
      <p:cViewPr varScale="1">
        <p:scale>
          <a:sx n="85" d="100"/>
          <a:sy n="85" d="100"/>
        </p:scale>
        <p:origin x="1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p>
            <a:r>
              <a:rPr lang="en-US"/>
              <a:t>One way to understand the Airbnb market is to study dense cities where demand, limited space, and pricing pressure all interact. New York City is a strong case for that kind of analysis.</a:t>
            </a:r>
            <a:endParaRPr lang="en-US"/>
          </a:p>
          <a:p>
            <a:r>
              <a:rPr lang="en-US"/>
              <a:t>At first, Airbnb in NYC can look like one large citywide marketplace. But as we move through the data, a more uneven structure appears. Activity is not spread evenly. It is concentrated in a smaller set of neighborhoods, and that concentration raises a deeper question: who participates most heavily in this market, and how does that connect to pricing and demand?</a:t>
            </a:r>
            <a:endParaRPr lang="en-US"/>
          </a:p>
          <a:p>
            <a:r>
              <a:rPr lang="en-US"/>
              <a:t>Our central claim is that Airbnb in NYC is better understood as a set of submarkets shaped by geography, room type, and host behavior, rather than one uniform market. We use listings and reviews together to trace this structure step by step. The story you will hear today moves from concentration, to pricing, to host composition, to review activity, and then to a final synthesis about how these forces interact.</a:t>
            </a:r>
            <a:endParaRPr lang="en-US"/>
          </a:p>
        </p:txBody>
      </p:sp>
    </p:spTree>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p>
            <a:r>
              <a:rPr lang="en-US"/>
              <a:t>We framed the project around a simple but important market question: is Airbnb in NYC one market, or many local submarkets operating under one platform? To answer that, we used the Inside Airbnb NYC snapshot from December 4, 2025.</a:t>
            </a:r>
            <a:endParaRPr lang="en-US"/>
          </a:p>
          <a:p>
            <a:r>
              <a:rPr lang="en-US"/>
              <a:t>From listings data, we used borough, neighborhood, room type, price, host-related fields, and location coordinates. From reviews data, we linked listing ID and date to construct 2025 review activity. That lets us compare supply structure and engagement patterns together.</a:t>
            </a:r>
            <a:endParaRPr lang="en-US"/>
          </a:p>
          <a:p>
            <a:r>
              <a:rPr lang="en-US"/>
              <a:t>Our analysis is organized around four linked questions. First, where is listing activity concentrated? Second, how do prices vary across neighborhoods and room types? Third, how do multi-listing hosts compare with single-listing hosts? Fourth, how is 2025 review activity associated with listing price?</a:t>
            </a:r>
            <a:endParaRPr lang="en-US"/>
          </a:p>
          <a:p>
            <a:r>
              <a:rPr lang="en-US"/>
              <a:t>This sequence matters because each question builds on the previous one. If concentration exists, pricing differences become easier to interpret. If host structure differs across areas, that helps explain those pricing patterns. Review activity then adds demand context to the same structure.</a:t>
            </a:r>
            <a:endParaRPr lang="en-US"/>
          </a:p>
        </p:txBody>
      </p:sp>
    </p:spTree>
    <p:extLst>
      <p:ext uri="{BB962C8B-B14F-4D97-AF65-F5344CB8AC3E}">
        <ns2:creationId val="3464822966"/>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p>
            <a:r>
              <a:rPr lang="en-US"/>
              <a:t>This slide shows the structure of the dashboard we used to support both storytelling and exploration. The controls allow filtering by borough, neighborhood, room type, host type, and price range. Those filters update the visuals together so we can test whether patterns persist under different views.</a:t>
            </a:r>
            <a:endParaRPr lang="en-US"/>
          </a:p>
          <a:p>
            <a:r>
              <a:rPr lang="en-US"/>
              <a:t>At the top, KPI cards summarize the current filtered state. Below that, the map and neighborhood ranking show where supply is concentrated. Price distributions show market segmentation by room type. Host-type views compare single-listing and multi-listing behavior. The review-price view adds engagement context for 2025.</a:t>
            </a:r>
            <a:endParaRPr lang="en-US"/>
          </a:p>
          <a:p>
            <a:r>
              <a:rPr lang="en-US"/>
              <a:t>The design is intentional: we present a narrative first, but the same interface can challenge or validate that narrative in real time. If the story only worked for one static cut of data, it would be weak. The dashboard lets us check robustness by shifting filters and seeing whether the same structural pattern remains: uneven concentration, segmented pricing, and differentiated host behavior.</a:t>
            </a:r>
            <a:endParaRPr lang="en-US"/>
          </a:p>
        </p:txBody>
      </p:sp>
    </p:spTree>
    <p:extLst>
      <p:ext uri="{BB962C8B-B14F-4D97-AF65-F5344CB8AC3E}">
        <ns2:creationId val="1780808724"/>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p>
            <a:r>
              <a:rPr lang="en-US"/>
              <a:t>The first major finding is concentration. Once listings are mapped and ranked, a clear imbalance appears. Manhattan and Brooklyn account for most listings in the cleaned dataset, while the remaining activity is distributed across Queens, the Bronx, and Staten Island.</a:t>
            </a:r>
            <a:endParaRPr lang="en-US"/>
          </a:p>
          <a:p>
            <a:r>
              <a:rPr lang="en-US"/>
              <a:t>That means Airbnb presence is not evenly citywide. Instead, supply clusters in a limited set of neighborhoods. Places such as Bedford-Stuyvesant, Midtown, and Hell's Kitchen stand out with especially high listing counts.</a:t>
            </a:r>
            <a:endParaRPr lang="en-US"/>
          </a:p>
          <a:p>
            <a:r>
              <a:rPr lang="en-US"/>
              <a:t>This is more than a descriptive point. Concentration shapes market mechanics. Areas with dense supply are where competition, visibility, and pricing pressure are most intense. Areas with thinner supply behave differently. So rather than thinking of NYC Airbnb as one average marketplace, this first result suggests a smaller set of high-activity zones drives a large share of visible supply.</a:t>
            </a:r>
            <a:endParaRPr lang="en-US"/>
          </a:p>
          <a:p>
            <a:r>
              <a:rPr lang="en-US"/>
              <a:t>That concentration finding is the foundation for all later results. The price and host patterns we discuss next make the most sense when read within this uneven geographic structure.</a:t>
            </a:r>
            <a:endParaRPr lang="en-US"/>
          </a:p>
        </p:txBody>
      </p:sp>
    </p:spTree>
    <p:extLst>
      <p:ext uri="{BB962C8B-B14F-4D97-AF65-F5344CB8AC3E}">
        <ns2:creationId val="3098839649"/>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p>
            <a:r>
              <a:rPr lang="en-US"/>
              <a:t>The second finding is price segmentation, and the differences are substantial. Across the city, two drivers explain much of the variation: where the listing is located and what type of space is offered.</a:t>
            </a:r>
            <a:endParaRPr lang="en-US"/>
          </a:p>
          <a:p>
            <a:r>
              <a:rPr lang="en-US"/>
              <a:t>Entire homes are consistently priced above private or shared rooms, especially in Manhattan and parts of Brooklyn. Outer borough listings generally show lower prices and often tighter ranges. But even within the same borough, the spread can still be wide, which indicates multiple price tiers coexisting in local markets.</a:t>
            </a:r>
            <a:endParaRPr lang="en-US"/>
          </a:p>
          <a:p>
            <a:r>
              <a:rPr lang="en-US"/>
              <a:t>The implication is that price is not just an individual listing attribute. It is tied to local market context and product type. A single citywide average price hides this structure and can misrepresent what hosts and guests actually face in different areas.</a:t>
            </a:r>
            <a:endParaRPr lang="en-US"/>
          </a:p>
          <a:p>
            <a:r>
              <a:rPr lang="en-US"/>
              <a:t>This finding extends the concentration story. High-activity areas are not just denser in listings; they also participate in different pricing regimes. That reinforces the view that NYC Airbnb is segmented into local submarkets rather than functioning as one uniform pricing environment.</a:t>
            </a:r>
            <a:endParaRPr lang="en-US"/>
          </a:p>
        </p:txBody>
      </p:sp>
    </p:spTree>
    <p:extLst>
      <p:ext uri="{BB962C8B-B14F-4D97-AF65-F5344CB8AC3E}">
        <ns2:creationId val="888513578"/>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p>
            <a:r>
              <a:rPr lang="en-US"/>
              <a:t>The third finding introduces host behavior as another structural layer. Not all hosts participate in the same way. Comparing single-listing hosts with multi-listing hosts reveals a more commercial pattern in parts of the market.</a:t>
            </a:r>
            <a:endParaRPr lang="en-US"/>
          </a:p>
          <a:p>
            <a:r>
              <a:rPr lang="en-US"/>
              <a:t>Multi-listing hosts are more common in high-activity zones, and in several borough-room type comparisons they post higher median prices. That does not prove causality, but it does suggest that some segments operate less like occasional home sharing and more like scaled short-term rental business activity.</a:t>
            </a:r>
            <a:endParaRPr lang="en-US"/>
          </a:p>
          <a:p>
            <a:r>
              <a:rPr lang="en-US"/>
              <a:t>This matters because host composition helps explain why market outcomes vary across place and product type. If one area has more multi-listing operators and another has mostly single-listing hosts, their pricing and supply behavior may diverge even when both are inside the same platform.</a:t>
            </a:r>
            <a:endParaRPr lang="en-US"/>
          </a:p>
          <a:p>
            <a:r>
              <a:rPr lang="en-US"/>
              <a:t>So at this point in the story, the market looks layered: geographic concentration sets the stage, room type shapes price levels, and host structure adds a commercialization dimension that reinforces unevenness.</a:t>
            </a:r>
            <a:endParaRPr lang="en-US"/>
          </a:p>
        </p:txBody>
      </p:sp>
    </p:spTree>
    <p:extLst>
      <p:ext uri="{BB962C8B-B14F-4D97-AF65-F5344CB8AC3E}">
        <ns2:creationId val="3575460915"/>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p>
            <a:r>
              <a:rPr lang="en-US"/>
              <a:t>The fourth finding adds review activity as a demand-facing signal. We treat reviews as a proxy for visible engagement, not a direct measure of bookings, and we interpret all patterns as associative rather than causal.</a:t>
            </a:r>
            <a:endParaRPr lang="en-US"/>
          </a:p>
          <a:p>
            <a:r>
              <a:rPr lang="en-US"/>
              <a:t>In 2025 data, listings with the highest review counts tend to cluster in lower-to-middle price ranges instead of the very top of the market. This suggests that the most actively reviewed inventory is often relatively affordable, while the highest-priced listings do not necessarily produce the highest review volume.</a:t>
            </a:r>
            <a:endParaRPr lang="en-US"/>
          </a:p>
          <a:p>
            <a:r>
              <a:rPr lang="en-US"/>
              <a:t>That pattern points to a split between volume-oriented segments and premium segments. One part of the market appears to generate more visible activity at moderate price points, while another part serves a smaller high-price segment with lower visible review intensity.</a:t>
            </a:r>
            <a:endParaRPr lang="en-US"/>
          </a:p>
          <a:p>
            <a:r>
              <a:rPr lang="en-US"/>
              <a:t>This final analytical layer complements earlier findings by linking engagement to the same segmented structure we saw in concentration, price, and host behavior.</a:t>
            </a:r>
            <a:endParaRPr lang="en-US"/>
          </a:p>
        </p:txBody>
      </p:sp>
    </p:spTree>
    <p:extLst>
      <p:ext uri="{BB962C8B-B14F-4D97-AF65-F5344CB8AC3E}">
        <ns2:creationId val="748018799"/>
      </p:ext>
    </p:extLst>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p>
            <a:r>
              <a:rPr lang="en-US"/>
              <a:t>Putting everything together, Airbnb in New York City does not operate as one single unified market. It functions as uneven, spatially concentrated submarkets shaped by location, room type, host behavior, and price.</a:t>
            </a:r>
            <a:endParaRPr lang="en-US"/>
          </a:p>
          <a:p>
            <a:r>
              <a:rPr lang="en-US"/>
              <a:t>A relatively small set of neighborhoods accounts for a large share of visible supply. Pricing reflects both geography and listing type, with clear segmentation rather than one citywide pattern. Host composition adds evidence of a more commercialized segment, especially where supply is already dense. Review activity in 2025 suggests that lower-to-middle priced listings often drive more visible engagement than the most expensive listings.</a:t>
            </a:r>
            <a:endParaRPr lang="en-US"/>
          </a:p>
          <a:p>
            <a:r>
              <a:rPr lang="en-US"/>
              <a:t>Our main limitations remain important: review counts are proxies, listing stock is snapshot-based, and findings are associative, not causal. Even with those limits, the evidence consistently supports the same interpretation.</a:t>
            </a:r>
            <a:endParaRPr lang="en-US"/>
          </a:p>
          <a:p>
            <a:r>
              <a:rPr lang="en-US"/>
              <a:t>The key takeaway is that NYC Airbnb mirrors the city itself: uneven, segmented, and strongly shaped by place. For analysis and decision-making, local submarket context is more informative than citywide averages.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98500" y="8657488"/>
            <a:ext cx="11607801" cy="461060"/>
          </a:xfrm>
          <a:prstGeom prst="rect">
            <a:avLst/>
          </a:prstGeom>
        </p:spPr>
        <p:txBody>
          <a:bodyPr anchor="b"/>
          <a:lstStyle>
            <a:lvl1pPr marL="0" indent="0" defTabSz="563541">
              <a:lnSpc>
                <a:spcPct val="100000"/>
              </a:lnSpc>
              <a:spcBef>
                <a:spcPts val="0"/>
              </a:spcBef>
              <a:buSzTx/>
              <a:buNone/>
              <a:defRPr sz="2304" b="1"/>
            </a:lvl1pPr>
          </a:lstStyle>
          <a:p>
            <a:r>
              <a:t>Author and Date</a:t>
            </a:r>
          </a:p>
        </p:txBody>
      </p:sp>
      <p:sp>
        <p:nvSpPr>
          <p:cNvPr id="12" name="Presentation Title"/>
          <p:cNvSpPr txBox="1">
            <a:spLocks noGrp="1"/>
          </p:cNvSpPr>
          <p:nvPr>
            <p:ph type="title" hasCustomPrompt="1"/>
          </p:nvPr>
        </p:nvSpPr>
        <p:spPr>
          <a:xfrm>
            <a:off x="698500" y="1854200"/>
            <a:ext cx="11609057" cy="3302000"/>
          </a:xfrm>
          <a:prstGeom prst="rect">
            <a:avLst/>
          </a:prstGeom>
        </p:spPr>
        <p:txBody>
          <a:bodyPr anchor="b"/>
          <a:lstStyle>
            <a:lvl1pPr>
              <a:defRPr sz="8200" spc="-164"/>
            </a:lvl1pPr>
          </a:lstStyle>
          <a:p>
            <a:r>
              <a:t>Presentation Title</a:t>
            </a:r>
          </a:p>
        </p:txBody>
      </p:sp>
      <p:sp>
        <p:nvSpPr>
          <p:cNvPr id="13" name="Body Level One…"/>
          <p:cNvSpPr txBox="1">
            <a:spLocks noGrp="1"/>
          </p:cNvSpPr>
          <p:nvPr>
            <p:ph type="body" sz="quarter" idx="1" hasCustomPrompt="1"/>
          </p:nvPr>
        </p:nvSpPr>
        <p:spPr>
          <a:xfrm>
            <a:off x="698500" y="5105400"/>
            <a:ext cx="11607800" cy="1456399"/>
          </a:xfrm>
          <a:prstGeom prst="rect">
            <a:avLst/>
          </a:prstGeom>
        </p:spPr>
        <p:txBody>
          <a:bodyPr/>
          <a:lstStyle>
            <a:lvl1pPr marL="0" indent="0" defTabSz="587022">
              <a:lnSpc>
                <a:spcPct val="100000"/>
              </a:lnSpc>
              <a:spcBef>
                <a:spcPts val="0"/>
              </a:spcBef>
              <a:buSzTx/>
              <a:buNone/>
              <a:defRPr sz="3800" b="1"/>
            </a:lvl1pPr>
            <a:lvl2pPr marL="0" indent="457200" defTabSz="587022">
              <a:lnSpc>
                <a:spcPct val="100000"/>
              </a:lnSpc>
              <a:spcBef>
                <a:spcPts val="0"/>
              </a:spcBef>
              <a:buSzTx/>
              <a:buNone/>
              <a:defRPr sz="3800" b="1"/>
            </a:lvl2pPr>
            <a:lvl3pPr marL="0" indent="914400" defTabSz="587022">
              <a:lnSpc>
                <a:spcPct val="100000"/>
              </a:lnSpc>
              <a:spcBef>
                <a:spcPts val="0"/>
              </a:spcBef>
              <a:buSzTx/>
              <a:buNone/>
              <a:defRPr sz="3800" b="1"/>
            </a:lvl3pPr>
            <a:lvl4pPr marL="0" indent="1371600" defTabSz="587022">
              <a:lnSpc>
                <a:spcPct val="100000"/>
              </a:lnSpc>
              <a:spcBef>
                <a:spcPts val="0"/>
              </a:spcBef>
              <a:buSzTx/>
              <a:buNone/>
              <a:defRPr sz="3800" b="1"/>
            </a:lvl4pPr>
            <a:lvl5pPr marL="0" indent="1828800" defTabSz="587022">
              <a:lnSpc>
                <a:spcPct val="100000"/>
              </a:lnSpc>
              <a:spcBef>
                <a:spcPts val="0"/>
              </a:spcBef>
              <a:buSzTx/>
              <a:buNone/>
              <a:defRPr sz="38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6353454" y="9220199"/>
            <a:ext cx="297892" cy="2874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376767" y="-915894"/>
            <a:ext cx="17835652" cy="10682195"/>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698500" y="5181600"/>
            <a:ext cx="11607800" cy="3302000"/>
          </a:xfrm>
          <a:prstGeom prst="rect">
            <a:avLst/>
          </a:prstGeom>
        </p:spPr>
        <p:txBody>
          <a:bodyPr anchor="b"/>
          <a:lstStyle>
            <a:lvl1pPr>
              <a:defRPr sz="8200" spc="-164"/>
            </a:lvl1pPr>
          </a:lstStyle>
          <a:p>
            <a:r>
              <a:t>Presentation Title</a:t>
            </a:r>
          </a:p>
        </p:txBody>
      </p:sp>
      <p:sp>
        <p:nvSpPr>
          <p:cNvPr id="23" name="Body Level One…"/>
          <p:cNvSpPr txBox="1">
            <a:spLocks noGrp="1"/>
          </p:cNvSpPr>
          <p:nvPr>
            <p:ph type="body" sz="quarter" idx="1" hasCustomPrompt="1"/>
          </p:nvPr>
        </p:nvSpPr>
        <p:spPr>
          <a:xfrm>
            <a:off x="698500" y="8432800"/>
            <a:ext cx="11607800" cy="689769"/>
          </a:xfrm>
          <a:prstGeom prst="rect">
            <a:avLst/>
          </a:prstGeom>
        </p:spPr>
        <p:txBody>
          <a:bodyPr/>
          <a:lstStyle>
            <a:lvl1pPr marL="0" indent="0" defTabSz="587022">
              <a:lnSpc>
                <a:spcPct val="100000"/>
              </a:lnSpc>
              <a:spcBef>
                <a:spcPts val="0"/>
              </a:spcBef>
              <a:buSzTx/>
              <a:buNone/>
              <a:defRPr sz="3800" b="1"/>
            </a:lvl1pPr>
            <a:lvl2pPr marL="0" indent="457200" defTabSz="587022">
              <a:lnSpc>
                <a:spcPct val="100000"/>
              </a:lnSpc>
              <a:spcBef>
                <a:spcPts val="0"/>
              </a:spcBef>
              <a:buSzTx/>
              <a:buNone/>
              <a:defRPr sz="3800" b="1"/>
            </a:lvl2pPr>
            <a:lvl3pPr marL="0" indent="914400" defTabSz="587022">
              <a:lnSpc>
                <a:spcPct val="100000"/>
              </a:lnSpc>
              <a:spcBef>
                <a:spcPts val="0"/>
              </a:spcBef>
              <a:buSzTx/>
              <a:buNone/>
              <a:defRPr sz="3800" b="1"/>
            </a:lvl3pPr>
            <a:lvl4pPr marL="0" indent="1371600" defTabSz="587022">
              <a:lnSpc>
                <a:spcPct val="100000"/>
              </a:lnSpc>
              <a:spcBef>
                <a:spcPts val="0"/>
              </a:spcBef>
              <a:buSzTx/>
              <a:buNone/>
              <a:defRPr sz="3800" b="1"/>
            </a:lvl4pPr>
            <a:lvl5pPr marL="0" indent="1828800" defTabSz="587022">
              <a:lnSpc>
                <a:spcPct val="100000"/>
              </a:lnSpc>
              <a:spcBef>
                <a:spcPts val="0"/>
              </a:spcBef>
              <a:buSzTx/>
              <a:buNone/>
              <a:defRPr sz="3800" b="1"/>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698500" y="571500"/>
            <a:ext cx="11607801" cy="461059"/>
          </a:xfrm>
          <a:prstGeom prst="rect">
            <a:avLst/>
          </a:prstGeom>
        </p:spPr>
        <p:txBody>
          <a:bodyPr/>
          <a:lstStyle>
            <a:lvl1pPr marL="0" indent="0" defTabSz="563541">
              <a:lnSpc>
                <a:spcPct val="100000"/>
              </a:lnSpc>
              <a:spcBef>
                <a:spcPts val="0"/>
              </a:spcBef>
              <a:buSzTx/>
              <a:buNone/>
              <a:defRPr sz="2304" b="1"/>
            </a:lvl1pPr>
          </a:lstStyle>
          <a:p>
            <a:r>
              <a:t>Author and Date</a:t>
            </a:r>
          </a:p>
        </p:txBody>
      </p:sp>
      <p:sp>
        <p:nvSpPr>
          <p:cNvPr id="25" name="Slide Number"/>
          <p:cNvSpPr txBox="1">
            <a:spLocks noGrp="1"/>
          </p:cNvSpPr>
          <p:nvPr>
            <p:ph type="sldNum" sz="quarter" idx="2"/>
          </p:nvPr>
        </p:nvSpPr>
        <p:spPr>
          <a:xfrm>
            <a:off x="6349999" y="9220199"/>
            <a:ext cx="297893" cy="2874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
          <p:cNvSpPr>
            <a:spLocks noGrp="1"/>
          </p:cNvSpPr>
          <p:nvPr>
            <p:ph type="pic" idx="21"/>
          </p:nvPr>
        </p:nvSpPr>
        <p:spPr>
          <a:xfrm>
            <a:off x="5319129" y="495299"/>
            <a:ext cx="7543801" cy="878005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698500" y="5003800"/>
            <a:ext cx="5105400" cy="4044566"/>
          </a:xfrm>
          <a:prstGeom prst="rect">
            <a:avLst/>
          </a:prstGeom>
        </p:spPr>
        <p:txBody>
          <a:bodyPr/>
          <a:lstStyle>
            <a:lvl1pPr marL="0" indent="0" defTabSz="587022">
              <a:lnSpc>
                <a:spcPct val="100000"/>
              </a:lnSpc>
              <a:spcBef>
                <a:spcPts val="0"/>
              </a:spcBef>
              <a:buSzTx/>
              <a:buNone/>
              <a:defRPr sz="3800" b="1"/>
            </a:lvl1pPr>
            <a:lvl2pPr marL="0" indent="457200" defTabSz="587022">
              <a:lnSpc>
                <a:spcPct val="100000"/>
              </a:lnSpc>
              <a:spcBef>
                <a:spcPts val="0"/>
              </a:spcBef>
              <a:buSzTx/>
              <a:buNone/>
              <a:defRPr sz="3800" b="1"/>
            </a:lvl2pPr>
            <a:lvl3pPr marL="0" indent="914400" defTabSz="587022">
              <a:lnSpc>
                <a:spcPct val="100000"/>
              </a:lnSpc>
              <a:spcBef>
                <a:spcPts val="0"/>
              </a:spcBef>
              <a:buSzTx/>
              <a:buNone/>
              <a:defRPr sz="3800" b="1"/>
            </a:lvl3pPr>
            <a:lvl4pPr marL="0" indent="1371600" defTabSz="587022">
              <a:lnSpc>
                <a:spcPct val="100000"/>
              </a:lnSpc>
              <a:spcBef>
                <a:spcPts val="0"/>
              </a:spcBef>
              <a:buSzTx/>
              <a:buNone/>
              <a:defRPr sz="3800" b="1"/>
            </a:lvl4pPr>
            <a:lvl5pPr marL="0" indent="1828800" defTabSz="587022">
              <a:lnSpc>
                <a:spcPct val="100000"/>
              </a:lnSpc>
              <a:spcBef>
                <a:spcPts val="0"/>
              </a:spcBef>
              <a:buSzTx/>
              <a:buNone/>
              <a:defRPr sz="38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698500" y="692534"/>
            <a:ext cx="5105400" cy="4387466"/>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3" name="Slide Subtitle"/>
          <p:cNvSpPr txBox="1">
            <a:spLocks noGrp="1"/>
          </p:cNvSpPr>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44" name="Slide Title"/>
          <p:cNvSpPr txBox="1">
            <a:spLocks noGrp="1"/>
          </p:cNvSpPr>
          <p:nvPr>
            <p:ph type="title" hasCustomPrompt="1"/>
          </p:nvPr>
        </p:nvSpPr>
        <p:spPr>
          <a:prstGeom prst="rect">
            <a:avLst/>
          </a:prstGeom>
        </p:spPr>
        <p:txBody>
          <a:bodyPr/>
          <a:lstStyle/>
          <a:p>
            <a:r>
              <a:t>Slide Title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589358"/>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Bowl of pappardelle pasta with parsley butter, roasted hazelnuts, and shaved parmesan cheese"/>
          <p:cNvSpPr>
            <a:spLocks noGrp="1"/>
          </p:cNvSpPr>
          <p:nvPr>
            <p:ph type="pic" idx="21"/>
          </p:nvPr>
        </p:nvSpPr>
        <p:spPr>
          <a:xfrm>
            <a:off x="6172200" y="596900"/>
            <a:ext cx="6448425" cy="8597900"/>
          </a:xfrm>
          <a:prstGeom prst="rect">
            <a:avLst/>
          </a:prstGeom>
        </p:spPr>
        <p:txBody>
          <a:bodyPr lIns="91439" tIns="45719" rIns="91439" bIns="45719">
            <a:noAutofit/>
          </a:bodyPr>
          <a:lstStyle/>
          <a:p>
            <a:endParaRPr/>
          </a:p>
        </p:txBody>
      </p:sp>
      <p:sp>
        <p:nvSpPr>
          <p:cNvPr id="6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62" name="Slide Subtitle"/>
          <p:cNvSpPr txBox="1">
            <a:spLocks noGrp="1"/>
          </p:cNvSpPr>
          <p:nvPr>
            <p:ph type="body" sz="quarter" idx="22"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63" name="Body Level One…"/>
          <p:cNvSpPr txBox="1">
            <a:spLocks noGrp="1"/>
          </p:cNvSpPr>
          <p:nvPr>
            <p:ph type="body" sz="half" idx="1" hasCustomPrompt="1"/>
          </p:nvPr>
        </p:nvSpPr>
        <p:spPr>
          <a:xfrm>
            <a:off x="698500" y="3480196"/>
            <a:ext cx="5105400" cy="5593161"/>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72" name="Slide Subtitle"/>
          <p:cNvSpPr txBox="1">
            <a:spLocks noGrp="1"/>
          </p:cNvSpPr>
          <p:nvPr>
            <p:ph type="body" sz="quarter" idx="21"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73" name="Body Level One…"/>
          <p:cNvSpPr txBox="1">
            <a:spLocks noGrp="1"/>
          </p:cNvSpPr>
          <p:nvPr>
            <p:ph type="body" sz="half" idx="1" hasCustomPrompt="1"/>
          </p:nvPr>
        </p:nvSpPr>
        <p:spPr>
          <a:xfrm>
            <a:off x="698500" y="3480196"/>
            <a:ext cx="5105400" cy="5593161"/>
          </a:xfrm>
          <a:prstGeom prst="rect">
            <a:avLst/>
          </a:prstGeom>
        </p:spPr>
        <p:txBody>
          <a:bodyPr/>
          <a:lstStyle/>
          <a:p>
            <a:r>
              <a:t>Slide bullet text</a:t>
            </a:r>
          </a:p>
          <a:p>
            <a:pPr lvl="1"/>
            <a:endParaRPr/>
          </a:p>
          <a:p>
            <a:pPr lvl="2"/>
            <a:endParaRPr/>
          </a:p>
          <a:p>
            <a:pPr lvl="3"/>
            <a:endParaRPr/>
          </a:p>
          <a:p>
            <a:pPr lvl="4"/>
            <a:endParaRP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83" name="Body Level One…"/>
          <p:cNvSpPr txBox="1">
            <a:spLocks noGrp="1"/>
          </p:cNvSpPr>
          <p:nvPr>
            <p:ph type="body" sz="half" idx="1" hasCustomPrompt="1"/>
          </p:nvPr>
        </p:nvSpPr>
        <p:spPr>
          <a:xfrm>
            <a:off x="698500" y="3480196"/>
            <a:ext cx="5105400" cy="5593161"/>
          </a:xfrm>
          <a:prstGeom prst="rect">
            <a:avLst/>
          </a:prstGeom>
        </p:spPr>
        <p:txBody>
          <a:bodyPr/>
          <a:lstStyle/>
          <a:p>
            <a:r>
              <a:t>Slide bullet text</a:t>
            </a:r>
          </a:p>
          <a:p>
            <a:pPr lvl="1"/>
            <a:endParaRPr/>
          </a:p>
          <a:p>
            <a:pPr lvl="2"/>
            <a:endParaRPr/>
          </a:p>
          <a:p>
            <a:pPr lvl="3"/>
            <a:endParaRPr/>
          </a:p>
          <a:p>
            <a:pPr lvl="4"/>
            <a:endParaRP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698500" y="3225800"/>
            <a:ext cx="11607800" cy="3302000"/>
          </a:xfrm>
          <a:prstGeom prst="rect">
            <a:avLst/>
          </a:prstGeom>
        </p:spPr>
        <p:txBody>
          <a:bodyPr anchor="ctr"/>
          <a:lstStyle>
            <a:lvl1pPr>
              <a:defRPr sz="8200" b="0" spc="-164">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698500" y="444500"/>
            <a:ext cx="11607800" cy="10160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698500" y="1409700"/>
            <a:ext cx="11607801" cy="671802"/>
          </a:xfrm>
          <a:prstGeom prst="rect">
            <a:avLst/>
          </a:prstGeom>
        </p:spPr>
        <p:txBody>
          <a:bodyPr/>
          <a:lstStyle>
            <a:lvl1pPr marL="0" indent="0" defTabSz="587022">
              <a:lnSpc>
                <a:spcPct val="100000"/>
              </a:lnSpc>
              <a:spcBef>
                <a:spcPts val="0"/>
              </a:spcBef>
              <a:buSzTx/>
              <a:buNone/>
              <a:defRPr sz="38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a:spcBef>
                <a:spcPts val="1300"/>
              </a:spcBef>
              <a:buSzTx/>
              <a:buNone/>
              <a:defRPr sz="3800" spc="-38"/>
            </a:lvl1pPr>
            <a:lvl2pPr marL="0" indent="457200">
              <a:spcBef>
                <a:spcPts val="1300"/>
              </a:spcBef>
              <a:buSzTx/>
              <a:buNone/>
              <a:defRPr sz="3800" spc="-38"/>
            </a:lvl2pPr>
            <a:lvl3pPr marL="0" indent="914400">
              <a:spcBef>
                <a:spcPts val="1300"/>
              </a:spcBef>
              <a:buSzTx/>
              <a:buNone/>
              <a:defRPr sz="3800" spc="-38"/>
            </a:lvl3pPr>
            <a:lvl4pPr marL="0" indent="1371600">
              <a:spcBef>
                <a:spcPts val="1300"/>
              </a:spcBef>
              <a:buSzTx/>
              <a:buNone/>
              <a:defRPr sz="3800" spc="-38"/>
            </a:lvl4pPr>
            <a:lvl5pPr marL="0" indent="1828800">
              <a:spcBef>
                <a:spcPts val="1300"/>
              </a:spcBef>
              <a:buSzTx/>
              <a:buNone/>
              <a:defRPr sz="3800" spc="-38"/>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698500" y="3568700"/>
            <a:ext cx="11607800" cy="2617788"/>
          </a:xfrm>
          <a:prstGeom prst="rect">
            <a:avLst/>
          </a:prstGeom>
        </p:spPr>
        <p:txBody>
          <a:bodyPr anchor="ctr"/>
          <a:lstStyle>
            <a:lvl1pPr marL="0" indent="0" algn="ctr">
              <a:lnSpc>
                <a:spcPct val="80000"/>
              </a:lnSpc>
              <a:spcBef>
                <a:spcPts val="0"/>
              </a:spcBef>
              <a:buSzTx/>
              <a:buNone/>
              <a:defRPr sz="8200" spc="-164">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8200" spc="-164">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8200" spc="-164">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8200" spc="-164">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8200" spc="-164">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Fact information"/>
          <p:cNvSpPr txBox="1">
            <a:spLocks noGrp="1"/>
          </p:cNvSpPr>
          <p:nvPr>
            <p:ph type="body" sz="quarter" idx="21" hasCustomPrompt="1"/>
          </p:nvPr>
        </p:nvSpPr>
        <p:spPr>
          <a:xfrm>
            <a:off x="698500" y="6209979"/>
            <a:ext cx="11607800" cy="671803"/>
          </a:xfrm>
          <a:prstGeom prst="rect">
            <a:avLst/>
          </a:prstGeom>
        </p:spPr>
        <p:txBody>
          <a:bodyPr/>
          <a:lstStyle>
            <a:lvl1pPr marL="0" indent="0" algn="ctr">
              <a:lnSpc>
                <a:spcPct val="100000"/>
              </a:lnSpc>
              <a:spcBef>
                <a:spcPts val="0"/>
              </a:spcBef>
              <a:buSzTx/>
              <a:buNone/>
              <a:defRPr sz="3800" b="1"/>
            </a:lvl1pPr>
          </a:lstStyle>
          <a:p>
            <a:r>
              <a:t>Fact information</a:t>
            </a:r>
          </a:p>
        </p:txBody>
      </p:sp>
      <p:sp>
        <p:nvSpPr>
          <p:cNvPr id="127" name="Body Level One…"/>
          <p:cNvSpPr txBox="1">
            <a:spLocks noGrp="1"/>
          </p:cNvSpPr>
          <p:nvPr>
            <p:ph type="body" idx="1" hasCustomPrompt="1"/>
          </p:nvPr>
        </p:nvSpPr>
        <p:spPr>
          <a:xfrm>
            <a:off x="698500" y="999066"/>
            <a:ext cx="11607800" cy="5210914"/>
          </a:xfrm>
          <a:prstGeom prst="rect">
            <a:avLst/>
          </a:prstGeom>
        </p:spPr>
        <p:txBody>
          <a:bodyPr anchor="b"/>
          <a:lstStyle>
            <a:lvl1pPr marL="0" indent="0" algn="ctr">
              <a:lnSpc>
                <a:spcPct val="80000"/>
              </a:lnSpc>
              <a:spcBef>
                <a:spcPts val="0"/>
              </a:spcBef>
              <a:buSzTx/>
              <a:buNone/>
              <a:defRPr sz="17600" b="1" spc="-176"/>
            </a:lvl1pPr>
            <a:lvl2pPr marL="0" indent="457200" algn="ctr">
              <a:lnSpc>
                <a:spcPct val="80000"/>
              </a:lnSpc>
              <a:spcBef>
                <a:spcPts val="0"/>
              </a:spcBef>
              <a:buSzTx/>
              <a:buNone/>
              <a:defRPr sz="17600" b="1" spc="-176"/>
            </a:lvl2pPr>
            <a:lvl3pPr marL="0" indent="914400" algn="ctr">
              <a:lnSpc>
                <a:spcPct val="80000"/>
              </a:lnSpc>
              <a:spcBef>
                <a:spcPts val="0"/>
              </a:spcBef>
              <a:buSzTx/>
              <a:buNone/>
              <a:defRPr sz="17600" b="1" spc="-176"/>
            </a:lvl3pPr>
            <a:lvl4pPr marL="0" indent="1371600" algn="ctr">
              <a:lnSpc>
                <a:spcPct val="80000"/>
              </a:lnSpc>
              <a:spcBef>
                <a:spcPts val="0"/>
              </a:spcBef>
              <a:buSzTx/>
              <a:buNone/>
              <a:defRPr sz="17600" b="1" spc="-176"/>
            </a:lvl4pPr>
            <a:lvl5pPr marL="0" indent="1828800" algn="ctr">
              <a:lnSpc>
                <a:spcPct val="80000"/>
              </a:lnSpc>
              <a:spcBef>
                <a:spcPts val="0"/>
              </a:spcBef>
              <a:buSzTx/>
              <a:buNone/>
              <a:defRPr sz="17600" b="1" spc="-176"/>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Body Level One…"/>
          <p:cNvSpPr txBox="1">
            <a:spLocks noGrp="1"/>
          </p:cNvSpPr>
          <p:nvPr>
            <p:ph type="body" sz="half" idx="1" hasCustomPrompt="1"/>
          </p:nvPr>
        </p:nvSpPr>
        <p:spPr>
          <a:xfrm>
            <a:off x="736600" y="3721100"/>
            <a:ext cx="11531600" cy="2324100"/>
          </a:xfrm>
          <a:prstGeom prst="rect">
            <a:avLst/>
          </a:prstGeom>
        </p:spPr>
        <p:txBody>
          <a:bodyPr anchor="ctr"/>
          <a:lstStyle>
            <a:lvl1pPr marL="457200" indent="-342900">
              <a:spcBef>
                <a:spcPts val="0"/>
              </a:spcBef>
              <a:buSzTx/>
              <a:buNone/>
              <a:defRPr sz="6000" spc="-119">
                <a:latin typeface="Helvetica Neue Medium"/>
                <a:ea typeface="Helvetica Neue Medium"/>
                <a:cs typeface="Helvetica Neue Medium"/>
                <a:sym typeface="Helvetica Neue Medium"/>
              </a:defRPr>
            </a:lvl1pPr>
            <a:lvl2pPr marL="457200" indent="114300">
              <a:spcBef>
                <a:spcPts val="0"/>
              </a:spcBef>
              <a:buSzTx/>
              <a:buNone/>
              <a:defRPr sz="6000" spc="-119">
                <a:latin typeface="Helvetica Neue Medium"/>
                <a:ea typeface="Helvetica Neue Medium"/>
                <a:cs typeface="Helvetica Neue Medium"/>
                <a:sym typeface="Helvetica Neue Medium"/>
              </a:defRPr>
            </a:lvl2pPr>
            <a:lvl3pPr marL="457200" indent="571500">
              <a:spcBef>
                <a:spcPts val="0"/>
              </a:spcBef>
              <a:buSzTx/>
              <a:buNone/>
              <a:defRPr sz="6000" spc="-119">
                <a:latin typeface="Helvetica Neue Medium"/>
                <a:ea typeface="Helvetica Neue Medium"/>
                <a:cs typeface="Helvetica Neue Medium"/>
                <a:sym typeface="Helvetica Neue Medium"/>
              </a:defRPr>
            </a:lvl3pPr>
            <a:lvl4pPr marL="457200" indent="1028700">
              <a:spcBef>
                <a:spcPts val="0"/>
              </a:spcBef>
              <a:buSzTx/>
              <a:buNone/>
              <a:defRPr sz="6000" spc="-119">
                <a:latin typeface="Helvetica Neue Medium"/>
                <a:ea typeface="Helvetica Neue Medium"/>
                <a:cs typeface="Helvetica Neue Medium"/>
                <a:sym typeface="Helvetica Neue Medium"/>
              </a:defRPr>
            </a:lvl4pPr>
            <a:lvl5pPr marL="457200" indent="1485900">
              <a:spcBef>
                <a:spcPts val="0"/>
              </a:spcBef>
              <a:buSzTx/>
              <a:buNone/>
              <a:defRPr sz="6000" spc="-119">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6" name="Attribution"/>
          <p:cNvSpPr txBox="1">
            <a:spLocks noGrp="1"/>
          </p:cNvSpPr>
          <p:nvPr>
            <p:ph type="body" sz="quarter" idx="21" hasCustomPrompt="1"/>
          </p:nvPr>
        </p:nvSpPr>
        <p:spPr>
          <a:xfrm>
            <a:off x="1219200" y="6426200"/>
            <a:ext cx="11049000" cy="461059"/>
          </a:xfrm>
          <a:prstGeom prst="rect">
            <a:avLst/>
          </a:prstGeom>
        </p:spPr>
        <p:txBody>
          <a:bodyPr/>
          <a:lstStyle>
            <a:lvl1pPr marL="0" indent="0" defTabSz="563541">
              <a:lnSpc>
                <a:spcPct val="100000"/>
              </a:lnSpc>
              <a:spcBef>
                <a:spcPts val="0"/>
              </a:spcBef>
              <a:buSzTx/>
              <a:buNone/>
              <a:defRPr sz="2304" b="1"/>
            </a:lvl1pPr>
          </a:lstStyle>
          <a:p>
            <a:r>
              <a:t>Attribution</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pappardelle pasta with parsley butter, roasted hazelnuts, and shaved parmesan cheese"/>
          <p:cNvSpPr>
            <a:spLocks noGrp="1"/>
          </p:cNvSpPr>
          <p:nvPr>
            <p:ph type="pic" idx="21"/>
          </p:nvPr>
        </p:nvSpPr>
        <p:spPr>
          <a:xfrm>
            <a:off x="-2082800" y="687558"/>
            <a:ext cx="11165190" cy="8373892"/>
          </a:xfrm>
          <a:prstGeom prst="rect">
            <a:avLst/>
          </a:prstGeom>
        </p:spPr>
        <p:txBody>
          <a:bodyPr lIns="91439" tIns="45719" rIns="91439" bIns="45719">
            <a:noAutofit/>
          </a:bodyPr>
          <a:lstStyle/>
          <a:p>
            <a:endParaRPr/>
          </a:p>
        </p:txBody>
      </p:sp>
      <p:sp>
        <p:nvSpPr>
          <p:cNvPr id="145" name="Bowl of salad with fried rice, boiled eggs, and chopsticks"/>
          <p:cNvSpPr>
            <a:spLocks noGrp="1"/>
          </p:cNvSpPr>
          <p:nvPr>
            <p:ph type="pic" sz="half" idx="22"/>
          </p:nvPr>
        </p:nvSpPr>
        <p:spPr>
          <a:xfrm>
            <a:off x="6597650" y="292100"/>
            <a:ext cx="5740400" cy="4592321"/>
          </a:xfrm>
          <a:prstGeom prst="rect">
            <a:avLst/>
          </a:prstGeom>
        </p:spPr>
        <p:txBody>
          <a:bodyPr lIns="91439" tIns="45719" rIns="91439" bIns="45719">
            <a:noAutofit/>
          </a:bodyPr>
          <a:lstStyle/>
          <a:p>
            <a:endParaRPr/>
          </a:p>
        </p:txBody>
      </p:sp>
      <p:sp>
        <p:nvSpPr>
          <p:cNvPr id="146" name="Bowl with salmon cakes, salad, and hummus"/>
          <p:cNvSpPr>
            <a:spLocks noGrp="1"/>
          </p:cNvSpPr>
          <p:nvPr>
            <p:ph type="pic" idx="23"/>
          </p:nvPr>
        </p:nvSpPr>
        <p:spPr>
          <a:xfrm>
            <a:off x="4984750" y="2749413"/>
            <a:ext cx="7937500" cy="9238277"/>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016000" y="-1054100"/>
            <a:ext cx="14427200" cy="1154176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6353454" y="9220199"/>
            <a:ext cx="297892" cy="287479"/>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hasCustomPrompt="1"/>
          </p:nvPr>
        </p:nvSpPr>
        <p:spPr>
          <a:xfrm>
            <a:off x="698500" y="2959100"/>
            <a:ext cx="11607800" cy="609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3" name="Slide Title"/>
          <p:cNvSpPr txBox="1">
            <a:spLocks noGrp="1"/>
          </p:cNvSpPr>
          <p:nvPr>
            <p:ph type="title" hasCustomPrompt="1"/>
          </p:nvPr>
        </p:nvSpPr>
        <p:spPr>
          <a:xfrm>
            <a:off x="698500" y="440266"/>
            <a:ext cx="11607800" cy="1016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4" name="Slide Number"/>
          <p:cNvSpPr txBox="1">
            <a:spLocks noGrp="1"/>
          </p:cNvSpPr>
          <p:nvPr>
            <p:ph type="sldNum" sz="quarter" idx="2"/>
          </p:nvPr>
        </p:nvSpPr>
        <p:spPr>
          <a:xfrm>
            <a:off x="6350067" y="9220199"/>
            <a:ext cx="297892" cy="287479"/>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3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1pPr>
      <a:lvl2pPr marL="0" marR="0" indent="4572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2pPr>
      <a:lvl3pPr marL="0" marR="0" indent="9144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3pPr>
      <a:lvl4pPr marL="0" marR="0" indent="13716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4pPr>
      <a:lvl5pPr marL="0" marR="0" indent="18288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5pPr>
      <a:lvl6pPr marL="0" marR="0" indent="22860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6pPr>
      <a:lvl7pPr marL="0" marR="0" indent="27432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7pPr>
      <a:lvl8pPr marL="0" marR="0" indent="32004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8pPr>
      <a:lvl9pPr marL="0" marR="0" indent="36576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9pPr>
    </p:titleStyle>
    <p:bodyStyle>
      <a:lvl1pPr marL="381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Author and Date"/>
          <p:cNvSpPr txBox="1">
            <a:spLocks noGrp="1"/>
          </p:cNvSpPr>
          <p:nvPr>
            <p:ph type="body" idx="21"/>
          </p:nvPr>
        </p:nvSpPr>
        <p:spPr>
          <a:prstGeom prst="rect">
            <a:avLst/>
          </a:prstGeom>
        </p:spPr>
        <p:txBody>
          <a:bodyPr>
            <a:normAutofit fontScale="62500" lnSpcReduction="20000"/>
          </a:bodyPr>
          <a:lstStyle/>
          <a:p>
            <a:r>
              <a:t>Austin Mo | Nathan Nguyen | Smera Shanmugan</a:t>
            </a:r>
          </a:p>
          <a:p>
            <a:r>
              <a:t>DS2003 | April 21, 2026</a:t>
            </a:r>
          </a:p>
        </p:txBody>
      </p:sp>
      <p:sp>
        <p:nvSpPr>
          <p:cNvPr id="172" name="Inside Airbnb NYC"/>
          <p:cNvSpPr txBox="1">
            <a:spLocks noGrp="1"/>
          </p:cNvSpPr>
          <p:nvPr>
            <p:ph type="ctrTitle"/>
          </p:nvPr>
        </p:nvSpPr>
        <p:spPr>
          <a:prstGeom prst="rect">
            <a:avLst/>
          </a:prstGeom>
        </p:spPr>
        <p:txBody>
          <a:bodyPr/>
          <a:lstStyle/>
          <a:p>
            <a:r>
              <a:t>Inside Airbnb NYC</a:t>
            </a:r>
          </a:p>
        </p:txBody>
      </p:sp>
      <p:sp>
        <p:nvSpPr>
          <p:cNvPr id="173" name="Project 3 skeleton deck…"/>
          <p:cNvSpPr txBox="1">
            <a:spLocks noGrp="1"/>
          </p:cNvSpPr>
          <p:nvPr>
            <p:ph type="subTitle" sz="quarter" idx="1"/>
          </p:nvPr>
        </p:nvSpPr>
        <p:spPr>
          <a:prstGeom prst="rect">
            <a:avLst/>
          </a:prstGeom>
        </p:spPr>
        <p:txBody>
          <a:bodyPr/>
          <a:lstStyle/>
          <a:p>
            <a:r>
              <a:t>Airbnb market structure in New York City</a:t>
            </a:r>
          </a:p>
          <a:p>
            <a:r>
              <a:t>Interactive dashboard and data story</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opic: Airbnb market structure in New York City…"/>
          <p:cNvSpPr txBox="1">
            <a:spLocks noGrp="1"/>
          </p:cNvSpPr>
          <p:nvPr>
            <p:ph type="body" idx="1"/>
          </p:nvPr>
        </p:nvSpPr>
        <p:spPr>
          <a:xfrm>
            <a:off x="698500" y="1456267"/>
            <a:ext cx="11607800" cy="6096000"/>
          </a:xfrm>
          <a:prstGeom prst="rect">
            <a:avLst/>
          </a:prstGeom>
        </p:spPr>
        <p:txBody>
          <a:bodyPr/>
          <a:lstStyle/>
          <a:p>
            <a:pPr marL="0" indent="0">
              <a:buNone/>
            </a:pPr>
            <a:r>
              <a:rPr dirty="0"/>
              <a:t>We </a:t>
            </a:r>
            <a:r>
              <a:rPr lang="en-US" dirty="0"/>
              <a:t>aim to </a:t>
            </a:r>
            <a:r>
              <a:rPr dirty="0"/>
              <a:t>analyze how Airbnb supply is distributed across New York City rather than treating the city as one uniform market.</a:t>
            </a:r>
          </a:p>
          <a:p>
            <a:pPr marL="0" indent="0">
              <a:buNone/>
            </a:pPr>
            <a:r>
              <a:rPr dirty="0"/>
              <a:t>Dataset: Inside Airbnb NYC snapshot (Dec. 4, 2025)</a:t>
            </a:r>
            <a:endParaRPr lang="en-US" dirty="0"/>
          </a:p>
          <a:p>
            <a:r>
              <a:rPr lang="en-US" b="1" dirty="0" err="1"/>
              <a:t>Listings.csv</a:t>
            </a:r>
            <a:r>
              <a:rPr lang="en-US" b="1" dirty="0"/>
              <a:t> </a:t>
            </a:r>
            <a:r>
              <a:rPr lang="en-US" dirty="0"/>
              <a:t>- neighborhood, borough, room type, price, host ID, host listing count, latitude, longitude</a:t>
            </a:r>
          </a:p>
          <a:p>
            <a:r>
              <a:rPr lang="en-US" b="1" dirty="0" err="1"/>
              <a:t>Reviews.csv</a:t>
            </a:r>
            <a:r>
              <a:rPr lang="en-US" b="1" dirty="0"/>
              <a:t> </a:t>
            </a:r>
            <a:r>
              <a:rPr lang="en-US" dirty="0"/>
              <a:t>- </a:t>
            </a:r>
            <a:r>
              <a:rPr lang="en-US" dirty="0" err="1"/>
              <a:t>listing_id</a:t>
            </a:r>
            <a:r>
              <a:rPr lang="en-US" dirty="0"/>
              <a:t>, date</a:t>
            </a:r>
          </a:p>
          <a:p>
            <a:pPr marL="0" indent="0">
              <a:buNone/>
            </a:pPr>
            <a:endParaRPr lang="en-US" dirty="0"/>
          </a:p>
          <a:p>
            <a:pPr marL="0" indent="0">
              <a:buNone/>
            </a:pPr>
            <a:endParaRPr lang="en-US" dirty="0"/>
          </a:p>
          <a:p>
            <a:endParaRPr dirty="0"/>
          </a:p>
        </p:txBody>
      </p:sp>
      <p:sp>
        <p:nvSpPr>
          <p:cNvPr id="177" name="Project Framing"/>
          <p:cNvSpPr txBox="1">
            <a:spLocks noGrp="1"/>
          </p:cNvSpPr>
          <p:nvPr>
            <p:ph type="title"/>
          </p:nvPr>
        </p:nvSpPr>
        <p:spPr>
          <a:prstGeom prst="rect">
            <a:avLst/>
          </a:prstGeom>
        </p:spPr>
        <p:txBody>
          <a:bodyPr/>
          <a:lstStyle>
            <a:lvl1pPr defTabSz="1716590">
              <a:defRPr sz="5940" spc="-118"/>
            </a:lvl1pPr>
          </a:lstStyle>
          <a:p>
            <a:r>
              <a:rPr dirty="0"/>
              <a:t>Project Framing</a:t>
            </a:r>
          </a:p>
        </p:txBody>
      </p:sp>
      <p:sp>
        <p:nvSpPr>
          <p:cNvPr id="8" name="How is Airbnb listing activity concentrated across NYC boroughs and neighborhoods?…">
            <a:extLst>
              <a:ext uri="{FF2B5EF4-FFF2-40B4-BE49-F238E27FC236}">
                <a16:creationId xmlns:a16="http://schemas.microsoft.com/office/drawing/2014/main" id="{E0D43F49-AFAA-3FC0-AC74-87138A5BCBD7}"/>
              </a:ext>
            </a:extLst>
          </p:cNvPr>
          <p:cNvSpPr txBox="1">
            <a:spLocks/>
          </p:cNvSpPr>
          <p:nvPr/>
        </p:nvSpPr>
        <p:spPr>
          <a:xfrm>
            <a:off x="698500" y="5584839"/>
            <a:ext cx="11473513" cy="31629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Autofit/>
          </a:bodyPr>
          <a:lstStyle>
            <a:lvl1pPr marL="381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9pPr>
          </a:lstStyle>
          <a:p>
            <a:pPr marL="0" indent="0" hangingPunct="1">
              <a:buFontTx/>
              <a:buNone/>
            </a:pPr>
            <a:r>
              <a:rPr lang="en-US" sz="4000" b="1" dirty="0"/>
              <a:t>Research Questions</a:t>
            </a:r>
          </a:p>
          <a:p>
            <a:pPr marL="0" indent="0" hangingPunct="1">
              <a:buFontTx/>
              <a:buNone/>
            </a:pPr>
            <a:r>
              <a:rPr lang="en-US" sz="2400" dirty="0"/>
              <a:t>How is Airbnb listing activity concentrated across NYC boroughs and neighborhoods?</a:t>
            </a:r>
          </a:p>
          <a:p>
            <a:pPr marL="0" indent="0" hangingPunct="1">
              <a:buFontTx/>
              <a:buNone/>
            </a:pPr>
            <a:r>
              <a:rPr lang="en-US" sz="2400" dirty="0"/>
              <a:t>How do listing prices vary across boroughs, neighborhoods, and room types?</a:t>
            </a:r>
          </a:p>
          <a:p>
            <a:pPr marL="0" indent="0" hangingPunct="1">
              <a:buFontTx/>
              <a:buNone/>
            </a:pPr>
            <a:r>
              <a:rPr lang="en-US" sz="2400" dirty="0"/>
              <a:t>How do prices differ between single-listing and multi-listing hosts?</a:t>
            </a:r>
          </a:p>
          <a:p>
            <a:pPr marL="0" indent="0" hangingPunct="1">
              <a:buFontTx/>
              <a:buNone/>
            </a:pPr>
            <a:r>
              <a:rPr lang="en-US" sz="2400" dirty="0"/>
              <a:t>How is 2025 review activity associated with listing prices?</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Dashboard Structure"/>
          <p:cNvSpPr txBox="1">
            <a:spLocks noGrp="1"/>
          </p:cNvSpPr>
          <p:nvPr>
            <p:ph type="title"/>
          </p:nvPr>
        </p:nvSpPr>
        <p:spPr>
          <a:prstGeom prst="rect">
            <a:avLst/>
          </a:prstGeom>
        </p:spPr>
        <p:txBody>
          <a:bodyPr/>
          <a:lstStyle>
            <a:lvl1pPr defTabSz="1716590">
              <a:defRPr sz="5940" spc="-118"/>
            </a:lvl1pPr>
          </a:lstStyle>
          <a:p>
            <a:r>
              <a:rPr dirty="0"/>
              <a:t>Dashboard Structure</a:t>
            </a:r>
          </a:p>
        </p:txBody>
      </p:sp>
      <p:pic>
        <p:nvPicPr>
          <p:cNvPr id="3" name="Picture 2" descr="A screenshot of a computer screen&#10;&#10;AI-generated content may be incorrect.">
            <a:extLst>
              <a:ext uri="{FF2B5EF4-FFF2-40B4-BE49-F238E27FC236}">
                <a16:creationId xmlns:a16="http://schemas.microsoft.com/office/drawing/2014/main" id="{C6AB0D07-51B3-7456-4A55-8A84CAF91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1952" y="1456267"/>
            <a:ext cx="8828359" cy="8135757"/>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7362D207-CFB4-4944-F995-EDA77C0B77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6943" y="1633927"/>
            <a:ext cx="3125088" cy="4512803"/>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Finding 1: Listing Concentration"/>
          <p:cNvSpPr txBox="1">
            <a:spLocks noGrp="1"/>
          </p:cNvSpPr>
          <p:nvPr>
            <p:ph type="title"/>
          </p:nvPr>
        </p:nvSpPr>
        <p:spPr>
          <a:prstGeom prst="rect">
            <a:avLst/>
          </a:prstGeom>
        </p:spPr>
        <p:txBody>
          <a:bodyPr/>
          <a:lstStyle>
            <a:lvl1pPr defTabSz="1716590">
              <a:defRPr sz="5940" spc="-118"/>
            </a:lvl1pPr>
          </a:lstStyle>
          <a:p>
            <a:r>
              <a:rPr dirty="0"/>
              <a:t>Finding 1: Listing Concentration</a:t>
            </a:r>
          </a:p>
        </p:txBody>
      </p:sp>
      <p:pic>
        <p:nvPicPr>
          <p:cNvPr id="3" name="Picture 2" descr="A graph showing a number of listings&#10;&#10;AI-generated content may be incorrect.">
            <a:extLst>
              <a:ext uri="{FF2B5EF4-FFF2-40B4-BE49-F238E27FC236}">
                <a16:creationId xmlns:a16="http://schemas.microsoft.com/office/drawing/2014/main" id="{0552676F-B752-F788-536F-71E89028D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098" y="1996093"/>
            <a:ext cx="11338603" cy="7182330"/>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Finding 2: Price Variation"/>
          <p:cNvSpPr txBox="1">
            <a:spLocks noGrp="1"/>
          </p:cNvSpPr>
          <p:nvPr>
            <p:ph type="title"/>
          </p:nvPr>
        </p:nvSpPr>
        <p:spPr>
          <a:prstGeom prst="rect">
            <a:avLst/>
          </a:prstGeom>
        </p:spPr>
        <p:txBody>
          <a:bodyPr/>
          <a:lstStyle>
            <a:lvl1pPr defTabSz="1716590">
              <a:defRPr sz="5940" spc="-118"/>
            </a:lvl1pPr>
          </a:lstStyle>
          <a:p>
            <a:r>
              <a:rPr dirty="0"/>
              <a:t>Finding 2: Price Variation</a:t>
            </a:r>
          </a:p>
        </p:txBody>
      </p:sp>
      <p:pic>
        <p:nvPicPr>
          <p:cNvPr id="3" name="Picture 2" descr="A graph with different colored squares&#10;&#10;AI-generated content may be incorrect.">
            <a:extLst>
              <a:ext uri="{FF2B5EF4-FFF2-40B4-BE49-F238E27FC236}">
                <a16:creationId xmlns:a16="http://schemas.microsoft.com/office/drawing/2014/main" id="{AAF4DB24-67EF-389B-FE04-EA8BA7449D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510" y="2084780"/>
            <a:ext cx="11287780" cy="6670051"/>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Finding 3: Host Structure"/>
          <p:cNvSpPr txBox="1">
            <a:spLocks noGrp="1"/>
          </p:cNvSpPr>
          <p:nvPr>
            <p:ph type="title"/>
          </p:nvPr>
        </p:nvSpPr>
        <p:spPr>
          <a:prstGeom prst="rect">
            <a:avLst/>
          </a:prstGeom>
        </p:spPr>
        <p:txBody>
          <a:bodyPr/>
          <a:lstStyle>
            <a:lvl1pPr defTabSz="1716590">
              <a:defRPr sz="5940" spc="-118"/>
            </a:lvl1pPr>
          </a:lstStyle>
          <a:p>
            <a:r>
              <a:t>Finding 3: Host Structure</a:t>
            </a:r>
          </a:p>
        </p:txBody>
      </p:sp>
      <p:pic>
        <p:nvPicPr>
          <p:cNvPr id="3" name="Picture 2" descr="A graph of different colored bars&#10;&#10;AI-generated content may be incorrect.">
            <a:extLst>
              <a:ext uri="{FF2B5EF4-FFF2-40B4-BE49-F238E27FC236}">
                <a16:creationId xmlns:a16="http://schemas.microsoft.com/office/drawing/2014/main" id="{9777E4EE-F323-36E8-D2ED-92C3B8B8D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174" y="1920962"/>
            <a:ext cx="11650451" cy="6884356"/>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Finding 4: Review Activity And Price"/>
          <p:cNvSpPr txBox="1">
            <a:spLocks noGrp="1"/>
          </p:cNvSpPr>
          <p:nvPr>
            <p:ph type="title"/>
          </p:nvPr>
        </p:nvSpPr>
        <p:spPr>
          <a:prstGeom prst="rect">
            <a:avLst/>
          </a:prstGeom>
        </p:spPr>
        <p:txBody>
          <a:bodyPr/>
          <a:lstStyle>
            <a:lvl1pPr defTabSz="1595215">
              <a:defRPr sz="5520" spc="-110"/>
            </a:lvl1pPr>
          </a:lstStyle>
          <a:p>
            <a:r>
              <a:t>Finding 4: Review Activity And Price</a:t>
            </a:r>
          </a:p>
        </p:txBody>
      </p:sp>
      <p:pic>
        <p:nvPicPr>
          <p:cNvPr id="3" name="Picture 2" descr="A graph with a line and a blue line&#10;&#10;AI-generated content may be incorrect.">
            <a:extLst>
              <a:ext uri="{FF2B5EF4-FFF2-40B4-BE49-F238E27FC236}">
                <a16:creationId xmlns:a16="http://schemas.microsoft.com/office/drawing/2014/main" id="{691E419C-67D7-0640-B996-D7727B2FF5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499" y="2084780"/>
            <a:ext cx="11607800" cy="6859153"/>
          </a:xfrm>
          <a:prstGeom prst="rect">
            <a:avLst/>
          </a:prstGeom>
        </p:spPr>
      </p:pic>
      <p:sp>
        <p:nvSpPr>
          <p:cNvPr id="8" name="Text Placeholder 7">
            <a:extLst>
              <a:ext uri="{FF2B5EF4-FFF2-40B4-BE49-F238E27FC236}">
                <a16:creationId xmlns:a16="http://schemas.microsoft.com/office/drawing/2014/main" id="{870D92D6-A4F1-B72F-D636-D7950200E439}"/>
              </a:ext>
            </a:extLst>
          </p:cNvPr>
          <p:cNvSpPr>
            <a:spLocks noGrp="1"/>
          </p:cNvSpPr>
          <p:nvPr>
            <p:ph type="body" sz="quarter" idx="21"/>
          </p:nvPr>
        </p:nvSpPr>
        <p:spPr/>
        <p:txBody>
          <a:bodyPr>
            <a:normAutofit lnSpcReduction="10000"/>
          </a:bodyPr>
          <a:lstStyle/>
          <a:p>
            <a:endParaRPr lang="en-US"/>
          </a:p>
        </p:txBody>
      </p:sp>
      <p:sp>
        <p:nvSpPr>
          <p:cNvPr id="9" name="Use 2025-only reviews: Jan 1, 2025 through Dec 4, 2025…">
            <a:extLst>
              <a:ext uri="{FF2B5EF4-FFF2-40B4-BE49-F238E27FC236}">
                <a16:creationId xmlns:a16="http://schemas.microsoft.com/office/drawing/2014/main" id="{8C13B35A-038A-11B8-4FE2-BEB9E56FDAA7}"/>
              </a:ext>
            </a:extLst>
          </p:cNvPr>
          <p:cNvSpPr txBox="1">
            <a:spLocks/>
          </p:cNvSpPr>
          <p:nvPr/>
        </p:nvSpPr>
        <p:spPr>
          <a:xfrm>
            <a:off x="502920" y="7315200"/>
            <a:ext cx="9135755" cy="12741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381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9pPr>
          </a:lstStyle>
          <a:p>
            <a:pPr hangingPunct="1"/>
            <a:endParaRPr lang="en-US"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500" y="1344144"/>
            <a:ext cx="11878248" cy="4816813"/>
          </a:xfrm>
        </p:spPr>
        <p:txBody>
          <a:bodyPr>
            <a:noAutofit/>
          </a:bodyPr>
          <a:lstStyle/>
          <a:p>
            <a:r>
              <a:rPr sz="3600" dirty="0"/>
              <a:t>Main takeaway: </a:t>
            </a:r>
            <a:r>
              <a:rPr sz="3600" b="0" dirty="0"/>
              <a:t>NYC Airbnb behaves as a set of uneven, spatially concentrated submarkets rather than one uniform market.</a:t>
            </a:r>
          </a:p>
          <a:p>
            <a:endParaRPr sz="3600" dirty="0"/>
          </a:p>
          <a:p>
            <a:r>
              <a:rPr sz="3600" dirty="0"/>
              <a:t>Evidence summary:</a:t>
            </a:r>
          </a:p>
          <a:p>
            <a:r>
              <a:rPr sz="3600" b="0" dirty="0"/>
              <a:t>- Listings are concentrated in a smaller set of </a:t>
            </a:r>
            <a:r>
              <a:rPr lang="en-US" sz="3600" b="0" dirty="0"/>
              <a:t>n</a:t>
            </a:r>
            <a:r>
              <a:rPr sz="3600" b="0" dirty="0"/>
              <a:t>eighborhoods and boroughs</a:t>
            </a:r>
          </a:p>
          <a:p>
            <a:r>
              <a:rPr sz="3600" b="0" dirty="0"/>
              <a:t>- Prices are segmented by room type and geography</a:t>
            </a:r>
          </a:p>
          <a:p>
            <a:r>
              <a:rPr sz="3600" b="0" dirty="0"/>
              <a:t>- Host structure and 2025 review activity add context to how market activity is distributed</a:t>
            </a:r>
          </a:p>
          <a:p>
            <a:endParaRPr sz="3600" dirty="0"/>
          </a:p>
          <a:p>
            <a:r>
              <a:rPr sz="3600" dirty="0"/>
              <a:t>Limitations:</a:t>
            </a:r>
          </a:p>
          <a:p>
            <a:r>
              <a:rPr sz="3600" b="0" dirty="0"/>
              <a:t>- Reviews are a proxy for activity, not direct bookings</a:t>
            </a:r>
          </a:p>
          <a:p>
            <a:r>
              <a:rPr sz="3600" b="0" dirty="0"/>
              <a:t>- Listing stock is snapshot-based</a:t>
            </a:r>
          </a:p>
          <a:p>
            <a:r>
              <a:rPr sz="3600" b="0" dirty="0"/>
              <a:t>- Findings are associative, not causal</a:t>
            </a:r>
          </a:p>
          <a:p>
            <a:endParaRPr sz="3600" dirty="0"/>
          </a:p>
          <a:p>
            <a:r>
              <a:rPr sz="3600" dirty="0"/>
              <a:t>Implication: </a:t>
            </a:r>
            <a:r>
              <a:rPr sz="3600" b="0" dirty="0"/>
              <a:t>We should interpret NYC Airbnb through local submarkets rather than citywide averages.</a:t>
            </a:r>
          </a:p>
        </p:txBody>
      </p:sp>
      <p:sp>
        <p:nvSpPr>
          <p:cNvPr id="9" name="Use 2025-only reviews: Jan 1, 2025 through Dec 4, 2025…">
            <a:extLst>
              <a:ext uri="{FF2B5EF4-FFF2-40B4-BE49-F238E27FC236}">
                <a16:creationId xmlns:a16="http://schemas.microsoft.com/office/drawing/2014/main" id="{8C13B35A-038A-11B8-4FE2-BEB9E56FDAA7}"/>
              </a:ext>
            </a:extLst>
          </p:cNvPr>
          <p:cNvSpPr txBox="1">
            <a:spLocks/>
          </p:cNvSpPr>
          <p:nvPr/>
        </p:nvSpPr>
        <p:spPr>
          <a:xfrm>
            <a:off x="502920" y="7315200"/>
            <a:ext cx="9135755" cy="12741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381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9pPr>
          </a:lstStyle>
          <a:p>
            <a:pPr hangingPunct="1"/>
            <a:endParaRPr lang="en-US" dirty="0"/>
          </a:p>
        </p:txBody>
      </p:sp>
      <p:sp>
        <p:nvSpPr>
          <p:cNvPr id="7" name="Title 6">
            <a:extLst>
              <a:ext uri="{FF2B5EF4-FFF2-40B4-BE49-F238E27FC236}">
                <a16:creationId xmlns:a16="http://schemas.microsoft.com/office/drawing/2014/main" id="{4F0F7262-FCCD-0CCD-E2AB-981BDB73AB79}"/>
              </a:ext>
            </a:extLst>
          </p:cNvPr>
          <p:cNvSpPr>
            <a:spLocks noGrp="1"/>
          </p:cNvSpPr>
          <p:nvPr>
            <p:ph type="title"/>
          </p:nvPr>
        </p:nvSpPr>
        <p:spPr/>
        <p:txBody>
          <a:bodyPr/>
          <a:lstStyle/>
          <a:p>
            <a:r>
              <a:rPr lang="en-US" dirty="0"/>
              <a:t>Conclusion</a:t>
            </a:r>
          </a:p>
        </p:txBody>
      </p:sp>
    </p:spTree>
  </p:cSld>
  <p:clrMapOvr>
    <a:masterClrMapping/>
  </p:clrMapOvr>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884</Words>
  <Application>Microsoft Macintosh PowerPoint</Application>
  <PresentationFormat>Custom</PresentationFormat>
  <Paragraphs>43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Helvetica Neue</vt:lpstr>
      <vt:lpstr>Helvetica Neue Medium</vt:lpstr>
      <vt:lpstr>21_BasicWhite</vt:lpstr>
      <vt:lpstr>Inside Airbnb NYC</vt:lpstr>
      <vt:lpstr>Project Framing</vt:lpstr>
      <vt:lpstr>Dashboard Structure</vt:lpstr>
      <vt:lpstr>Finding 1: Listing Concentration</vt:lpstr>
      <vt:lpstr>Finding 2: Price Variation</vt:lpstr>
      <vt:lpstr>Finding 3: Host Structure</vt:lpstr>
      <vt:lpstr>Finding 4: Review Activity And Price</vt:lpstr>
      <vt:lpstr>Main takeaway: NYC Airbnb behaves as a set of uneven, spatially concentrated submarkets rather than one uniform market.  Evidence summary: - Listings are concentrated in a smaller set of neighborhoods and boroughs - Prices are segmented by room type and geography - Host structure and 2025 review activity add context to how market activity is distributed  Limitations: - Reviews are a proxy for activity, not direct bookings - Listing stock is snapshot-based - Findings are associative, not causal  Implication: We should interpret NYC Airbnb through local submarkets rather than citywide averages.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Austin Mo</cp:lastModifiedBy>
  <cp:revision>2</cp:revision>
  <dcterms:modified xsi:type="dcterms:W3CDTF">2026-04-21T03:21:31Z</dcterms:modified>
</cp:coreProperties>
</file>